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C2552-3BFA-D4EC-E5BF-601C0E2D42BB}" v="38" dt="2026-01-05T15:03:08.396"/>
    <p1510:client id="{9E70615E-F23C-9B88-1123-D027C7376C44}" v="25" dt="2026-01-05T15:37:31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lı Beyza CEYHAN" userId="S::ceyhana20@itu.edu.tr::9101afcb-4128-4bae-9eeb-a403d4f3f0e8" providerId="AD" clId="Web-{9E70615E-F23C-9B88-1123-D027C7376C44}"/>
    <pc:docChg chg="modSld">
      <pc:chgData name="Aslı Beyza CEYHAN" userId="S::ceyhana20@itu.edu.tr::9101afcb-4128-4bae-9eeb-a403d4f3f0e8" providerId="AD" clId="Web-{9E70615E-F23C-9B88-1123-D027C7376C44}" dt="2026-01-05T15:37:18.142" v="16" actId="20577"/>
      <pc:docMkLst>
        <pc:docMk/>
      </pc:docMkLst>
      <pc:sldChg chg="modSp">
        <pc:chgData name="Aslı Beyza CEYHAN" userId="S::ceyhana20@itu.edu.tr::9101afcb-4128-4bae-9eeb-a403d4f3f0e8" providerId="AD" clId="Web-{9E70615E-F23C-9B88-1123-D027C7376C44}" dt="2026-01-05T15:37:18.142" v="16" actId="20577"/>
        <pc:sldMkLst>
          <pc:docMk/>
          <pc:sldMk cId="0" sldId="256"/>
        </pc:sldMkLst>
        <pc:spChg chg="mod">
          <ac:chgData name="Aslı Beyza CEYHAN" userId="S::ceyhana20@itu.edu.tr::9101afcb-4128-4bae-9eeb-a403d4f3f0e8" providerId="AD" clId="Web-{9E70615E-F23C-9B88-1123-D027C7376C44}" dt="2026-01-05T15:37:18.142" v="16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Aslı Beyza CEYHAN" userId="S::ceyhana20@itu.edu.tr::9101afcb-4128-4bae-9eeb-a403d4f3f0e8" providerId="AD" clId="Web-{9E70615E-F23C-9B88-1123-D027C7376C44}" dt="2026-01-05T15:32:16.314" v="12" actId="1076"/>
        <pc:sldMkLst>
          <pc:docMk/>
          <pc:sldMk cId="0" sldId="262"/>
        </pc:sldMkLst>
        <pc:picChg chg="mod">
          <ac:chgData name="Aslı Beyza CEYHAN" userId="S::ceyhana20@itu.edu.tr::9101afcb-4128-4bae-9eeb-a403d4f3f0e8" providerId="AD" clId="Web-{9E70615E-F23C-9B88-1123-D027C7376C44}" dt="2026-01-05T15:32:06.580" v="11" actId="1076"/>
          <ac:picMkLst>
            <pc:docMk/>
            <pc:sldMk cId="0" sldId="262"/>
            <ac:picMk id="8" creationId="{A83323B5-E069-5D16-B32B-BFED2C797C50}"/>
          </ac:picMkLst>
        </pc:picChg>
        <pc:picChg chg="mod">
          <ac:chgData name="Aslı Beyza CEYHAN" userId="S::ceyhana20@itu.edu.tr::9101afcb-4128-4bae-9eeb-a403d4f3f0e8" providerId="AD" clId="Web-{9E70615E-F23C-9B88-1123-D027C7376C44}" dt="2026-01-05T15:32:16.314" v="12" actId="1076"/>
          <ac:picMkLst>
            <pc:docMk/>
            <pc:sldMk cId="0" sldId="262"/>
            <ac:picMk id="9" creationId="{E0C7BF91-D8ED-E536-F2CC-5037F72B4F80}"/>
          </ac:picMkLst>
        </pc:picChg>
      </pc:sldChg>
      <pc:sldChg chg="modSp">
        <pc:chgData name="Aslı Beyza CEYHAN" userId="S::ceyhana20@itu.edu.tr::9101afcb-4128-4bae-9eeb-a403d4f3f0e8" providerId="AD" clId="Web-{9E70615E-F23C-9B88-1123-D027C7376C44}" dt="2026-01-05T15:32:01.455" v="10" actId="1076"/>
        <pc:sldMkLst>
          <pc:docMk/>
          <pc:sldMk cId="0" sldId="263"/>
        </pc:sldMkLst>
        <pc:picChg chg="mod">
          <ac:chgData name="Aslı Beyza CEYHAN" userId="S::ceyhana20@itu.edu.tr::9101afcb-4128-4bae-9eeb-a403d4f3f0e8" providerId="AD" clId="Web-{9E70615E-F23C-9B88-1123-D027C7376C44}" dt="2026-01-05T15:32:01.455" v="10" actId="1076"/>
          <ac:picMkLst>
            <pc:docMk/>
            <pc:sldMk cId="0" sldId="263"/>
            <ac:picMk id="8" creationId="{7C06F2D1-F556-88E4-8265-F7DC9147A87C}"/>
          </ac:picMkLst>
        </pc:picChg>
      </pc:sldChg>
    </pc:docChg>
  </pc:docChgLst>
  <pc:docChgLst>
    <pc:chgData name="Aslı Beyza CEYHAN" userId="S::ceyhana20@itu.edu.tr::9101afcb-4128-4bae-9eeb-a403d4f3f0e8" providerId="AD" clId="Web-{693C2552-3BFA-D4EC-E5BF-601C0E2D42BB}"/>
    <pc:docChg chg="modSld">
      <pc:chgData name="Aslı Beyza CEYHAN" userId="S::ceyhana20@itu.edu.tr::9101afcb-4128-4bae-9eeb-a403d4f3f0e8" providerId="AD" clId="Web-{693C2552-3BFA-D4EC-E5BF-601C0E2D42BB}" dt="2026-01-05T14:55:56.027" v="32" actId="20577"/>
      <pc:docMkLst>
        <pc:docMk/>
      </pc:docMkLst>
      <pc:sldChg chg="modSp">
        <pc:chgData name="Aslı Beyza CEYHAN" userId="S::ceyhana20@itu.edu.tr::9101afcb-4128-4bae-9eeb-a403d4f3f0e8" providerId="AD" clId="Web-{693C2552-3BFA-D4EC-E5BF-601C0E2D42BB}" dt="2026-01-05T14:52:16.268" v="8" actId="20577"/>
        <pc:sldMkLst>
          <pc:docMk/>
          <pc:sldMk cId="0" sldId="257"/>
        </pc:sldMkLst>
        <pc:spChg chg="mod">
          <ac:chgData name="Aslı Beyza CEYHAN" userId="S::ceyhana20@itu.edu.tr::9101afcb-4128-4bae-9eeb-a403d4f3f0e8" providerId="AD" clId="Web-{693C2552-3BFA-D4EC-E5BF-601C0E2D42BB}" dt="2026-01-05T14:52:16.268" v="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Aslı Beyza CEYHAN" userId="S::ceyhana20@itu.edu.tr::9101afcb-4128-4bae-9eeb-a403d4f3f0e8" providerId="AD" clId="Web-{693C2552-3BFA-D4EC-E5BF-601C0E2D42BB}" dt="2026-01-05T14:52:22.347" v="10" actId="20577"/>
        <pc:sldMkLst>
          <pc:docMk/>
          <pc:sldMk cId="0" sldId="258"/>
        </pc:sldMkLst>
        <pc:spChg chg="mod">
          <ac:chgData name="Aslı Beyza CEYHAN" userId="S::ceyhana20@itu.edu.tr::9101afcb-4128-4bae-9eeb-a403d4f3f0e8" providerId="AD" clId="Web-{693C2552-3BFA-D4EC-E5BF-601C0E2D42BB}" dt="2026-01-05T14:52:22.347" v="10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Aslı Beyza CEYHAN" userId="S::ceyhana20@itu.edu.tr::9101afcb-4128-4bae-9eeb-a403d4f3f0e8" providerId="AD" clId="Web-{693C2552-3BFA-D4EC-E5BF-601C0E2D42BB}" dt="2026-01-05T14:52:26.190" v="12" actId="20577"/>
        <pc:sldMkLst>
          <pc:docMk/>
          <pc:sldMk cId="0" sldId="259"/>
        </pc:sldMkLst>
        <pc:spChg chg="mod">
          <ac:chgData name="Aslı Beyza CEYHAN" userId="S::ceyhana20@itu.edu.tr::9101afcb-4128-4bae-9eeb-a403d4f3f0e8" providerId="AD" clId="Web-{693C2552-3BFA-D4EC-E5BF-601C0E2D42BB}" dt="2026-01-05T14:52:26.190" v="1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Aslı Beyza CEYHAN" userId="S::ceyhana20@itu.edu.tr::9101afcb-4128-4bae-9eeb-a403d4f3f0e8" providerId="AD" clId="Web-{693C2552-3BFA-D4EC-E5BF-601C0E2D42BB}" dt="2026-01-05T14:52:29.644" v="14" actId="20577"/>
        <pc:sldMkLst>
          <pc:docMk/>
          <pc:sldMk cId="0" sldId="260"/>
        </pc:sldMkLst>
        <pc:spChg chg="mod">
          <ac:chgData name="Aslı Beyza CEYHAN" userId="S::ceyhana20@itu.edu.tr::9101afcb-4128-4bae-9eeb-a403d4f3f0e8" providerId="AD" clId="Web-{693C2552-3BFA-D4EC-E5BF-601C0E2D42BB}" dt="2026-01-05T14:52:29.644" v="14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delSp modSp">
        <pc:chgData name="Aslı Beyza CEYHAN" userId="S::ceyhana20@itu.edu.tr::9101afcb-4128-4bae-9eeb-a403d4f3f0e8" providerId="AD" clId="Web-{693C2552-3BFA-D4EC-E5BF-601C0E2D42BB}" dt="2026-01-05T14:55:16.901" v="25"/>
        <pc:sldMkLst>
          <pc:docMk/>
          <pc:sldMk cId="0" sldId="262"/>
        </pc:sldMkLst>
        <pc:spChg chg="del">
          <ac:chgData name="Aslı Beyza CEYHAN" userId="S::ceyhana20@itu.edu.tr::9101afcb-4128-4bae-9eeb-a403d4f3f0e8" providerId="AD" clId="Web-{693C2552-3BFA-D4EC-E5BF-601C0E2D42BB}" dt="2026-01-05T14:53:46.319" v="15"/>
          <ac:spMkLst>
            <pc:docMk/>
            <pc:sldMk cId="0" sldId="262"/>
            <ac:spMk id="3" creationId="{00000000-0000-0000-0000-000000000000}"/>
          </ac:spMkLst>
        </pc:spChg>
        <pc:spChg chg="del">
          <ac:chgData name="Aslı Beyza CEYHAN" userId="S::ceyhana20@itu.edu.tr::9101afcb-4128-4bae-9eeb-a403d4f3f0e8" providerId="AD" clId="Web-{693C2552-3BFA-D4EC-E5BF-601C0E2D42BB}" dt="2026-01-05T14:53:48.741" v="16"/>
          <ac:spMkLst>
            <pc:docMk/>
            <pc:sldMk cId="0" sldId="262"/>
            <ac:spMk id="6" creationId="{00000000-0000-0000-0000-000000000000}"/>
          </ac:spMkLst>
        </pc:spChg>
        <pc:picChg chg="add mod ord">
          <ac:chgData name="Aslı Beyza CEYHAN" userId="S::ceyhana20@itu.edu.tr::9101afcb-4128-4bae-9eeb-a403d4f3f0e8" providerId="AD" clId="Web-{693C2552-3BFA-D4EC-E5BF-601C0E2D42BB}" dt="2026-01-05T14:54:03.664" v="19" actId="14100"/>
          <ac:picMkLst>
            <pc:docMk/>
            <pc:sldMk cId="0" sldId="262"/>
            <ac:picMk id="8" creationId="{A83323B5-E069-5D16-B32B-BFED2C797C50}"/>
          </ac:picMkLst>
        </pc:picChg>
        <pc:picChg chg="add mod modCrop">
          <ac:chgData name="Aslı Beyza CEYHAN" userId="S::ceyhana20@itu.edu.tr::9101afcb-4128-4bae-9eeb-a403d4f3f0e8" providerId="AD" clId="Web-{693C2552-3BFA-D4EC-E5BF-601C0E2D42BB}" dt="2026-01-05T14:55:16.901" v="25"/>
          <ac:picMkLst>
            <pc:docMk/>
            <pc:sldMk cId="0" sldId="262"/>
            <ac:picMk id="9" creationId="{E0C7BF91-D8ED-E536-F2CC-5037F72B4F80}"/>
          </ac:picMkLst>
        </pc:picChg>
      </pc:sldChg>
      <pc:sldChg chg="addSp delSp modSp">
        <pc:chgData name="Aslı Beyza CEYHAN" userId="S::ceyhana20@itu.edu.tr::9101afcb-4128-4bae-9eeb-a403d4f3f0e8" providerId="AD" clId="Web-{693C2552-3BFA-D4EC-E5BF-601C0E2D42BB}" dt="2026-01-05T14:55:47.996" v="30" actId="14100"/>
        <pc:sldMkLst>
          <pc:docMk/>
          <pc:sldMk cId="0" sldId="263"/>
        </pc:sldMkLst>
        <pc:spChg chg="del">
          <ac:chgData name="Aslı Beyza CEYHAN" userId="S::ceyhana20@itu.edu.tr::9101afcb-4128-4bae-9eeb-a403d4f3f0e8" providerId="AD" clId="Web-{693C2552-3BFA-D4EC-E5BF-601C0E2D42BB}" dt="2026-01-05T14:55:43.152" v="28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Aslı Beyza CEYHAN" userId="S::ceyhana20@itu.edu.tr::9101afcb-4128-4bae-9eeb-a403d4f3f0e8" providerId="AD" clId="Web-{693C2552-3BFA-D4EC-E5BF-601C0E2D42BB}" dt="2026-01-05T14:55:39.902" v="27"/>
          <ac:spMkLst>
            <pc:docMk/>
            <pc:sldMk cId="0" sldId="263"/>
            <ac:spMk id="6" creationId="{00000000-0000-0000-0000-000000000000}"/>
          </ac:spMkLst>
        </pc:spChg>
        <pc:picChg chg="add mod ord">
          <ac:chgData name="Aslı Beyza CEYHAN" userId="S::ceyhana20@itu.edu.tr::9101afcb-4128-4bae-9eeb-a403d4f3f0e8" providerId="AD" clId="Web-{693C2552-3BFA-D4EC-E5BF-601C0E2D42BB}" dt="2026-01-05T14:55:47.996" v="30" actId="14100"/>
          <ac:picMkLst>
            <pc:docMk/>
            <pc:sldMk cId="0" sldId="263"/>
            <ac:picMk id="8" creationId="{7C06F2D1-F556-88E4-8265-F7DC9147A87C}"/>
          </ac:picMkLst>
        </pc:picChg>
      </pc:sldChg>
      <pc:sldChg chg="modSp">
        <pc:chgData name="Aslı Beyza CEYHAN" userId="S::ceyhana20@itu.edu.tr::9101afcb-4128-4bae-9eeb-a403d4f3f0e8" providerId="AD" clId="Web-{693C2552-3BFA-D4EC-E5BF-601C0E2D42BB}" dt="2026-01-05T14:55:56.027" v="32" actId="20577"/>
        <pc:sldMkLst>
          <pc:docMk/>
          <pc:sldMk cId="0" sldId="264"/>
        </pc:sldMkLst>
        <pc:spChg chg="mod">
          <ac:chgData name="Aslı Beyza CEYHAN" userId="S::ceyhana20@itu.edu.tr::9101afcb-4128-4bae-9eeb-a403d4f3f0e8" providerId="AD" clId="Web-{693C2552-3BFA-D4EC-E5BF-601C0E2D42BB}" dt="2026-01-05T14:55:56.027" v="32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3450" y="2286000"/>
            <a:ext cx="7677102" cy="144655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Human Motion </a:t>
            </a:r>
            <a:r>
              <a:rPr lang="en-US" dirty="0"/>
              <a:t>Recognition </a:t>
            </a:r>
          </a:p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Using</a:t>
            </a:r>
            <a:r>
              <a:rPr dirty="0"/>
              <a:t> IMU Sensors</a:t>
            </a:r>
            <a:endParaRPr lang="en-US"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800">
                <a:solidFill>
                  <a:srgbClr val="C2A23A"/>
                </a:solidFill>
              </a:defRPr>
            </a:pPr>
            <a:r>
              <a:t>Aslı Beyza Ceyhan  |  Muhammed Kılıçaslan  |  Berke Tüylek</a:t>
            </a:r>
          </a:p>
          <a:p>
            <a:br/>
            <a:r>
              <a:t>Istanbul Technical University</a:t>
            </a:r>
            <a:br/>
            <a:r>
              <a:t>Electronic &amp; Communications / Control &amp; Automation Engineering</a:t>
            </a:r>
            <a:br/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057"/>
                </a:solidFill>
                <a:latin typeface="Arial"/>
              </a:defRPr>
            </a:pPr>
            <a:r>
              <a:t>Introduction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Project Overview</a:t>
            </a:r>
            <a:endParaRPr lang="en-US" dirty="0"/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Development of a Human Activity Recognition (HAR) system using IMU sensors.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Utilizes a CNN-based machine learning model to classify motion.</a:t>
            </a:r>
            <a:endParaRPr dirty="0"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Key Objectives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Precision: High accuracy classification of daily activities.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Scalability: Designed for real-time, gesture-controlled applications.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Tools: Implemented using MATLAB and Simulink.</a:t>
            </a:r>
            <a:endParaRPr dirty="0"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Why IMU Sensors?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Low power consumption and compact size.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Privacy-friendly (no cameras required).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High sampling rates ideal for dynamic motion.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C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057"/>
                </a:solidFill>
                <a:latin typeface="Arial"/>
              </a:defRPr>
            </a:pPr>
            <a:r>
              <a:t>Data Acquisition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Dataset Structure</a:t>
            </a:r>
            <a:endParaRPr lang="en-US" dirty="0"/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Sensors: Two 3-axis Accelerometers (Lower-back &amp; Thigh).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Input Features: 6 channels (</a:t>
            </a:r>
            <a:r>
              <a:rPr dirty="0" err="1"/>
              <a:t>back_x</a:t>
            </a:r>
            <a:r>
              <a:rPr dirty="0"/>
              <a:t>, </a:t>
            </a:r>
            <a:r>
              <a:rPr dirty="0" err="1"/>
              <a:t>back_y</a:t>
            </a:r>
            <a:r>
              <a:rPr dirty="0"/>
              <a:t>, </a:t>
            </a:r>
            <a:r>
              <a:rPr dirty="0" err="1"/>
              <a:t>back_z</a:t>
            </a:r>
            <a:r>
              <a:rPr dirty="0"/>
              <a:t>, </a:t>
            </a:r>
            <a:r>
              <a:rPr dirty="0" err="1"/>
              <a:t>thigh_x</a:t>
            </a:r>
            <a:r>
              <a:rPr dirty="0"/>
              <a:t>, </a:t>
            </a:r>
            <a:r>
              <a:rPr dirty="0" err="1"/>
              <a:t>thigh_y</a:t>
            </a:r>
            <a:r>
              <a:rPr dirty="0"/>
              <a:t>, </a:t>
            </a:r>
            <a:r>
              <a:rPr dirty="0" err="1"/>
              <a:t>thigh_z</a:t>
            </a:r>
            <a:r>
              <a:rPr dirty="0"/>
              <a:t>).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Handling: MATLAB 'datastores' used for out-of-memory processing.</a:t>
            </a:r>
            <a:endParaRPr dirty="0"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Preprocessing Steps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Segmentation: Sliding window of 500 samples with 50% overlap (250 samples).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Filtering: Removal of 'Ignored Labels' (classes with insufficient data).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Normalization: Z-score applied per window (</a:t>
            </a:r>
            <a:r>
              <a:rPr dirty="0" err="1"/>
              <a:t>X_norm</a:t>
            </a:r>
            <a:r>
              <a:rPr dirty="0"/>
              <a:t> = (X-μ)/σ).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Benefit: Removes amplitude variations and sensor placement bias.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C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057"/>
                </a:solidFill>
                <a:latin typeface="Arial"/>
              </a:defRPr>
            </a:pPr>
            <a:r>
              <a:t>Deep Learning Solution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1D Convolutional Neural Network (CNN)</a:t>
            </a:r>
            <a:endParaRPr lang="en-US" dirty="0"/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Designed specifically for sequential time-series data.</a:t>
            </a:r>
            <a:endParaRPr dirty="0"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Layer Hierarchy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Feature Extraction (Conv1D): Filter depth increases 32 → 64 → 128.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Batch Normalization: Ensures training stability.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Max Pooling: Reduces noise and dimensionality.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Dropout &amp; Global Average Pooling: Prevents overfitting and improves generalization.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Classification: </a:t>
            </a:r>
            <a:r>
              <a:rPr dirty="0" err="1"/>
              <a:t>Softmax</a:t>
            </a:r>
            <a:r>
              <a:rPr dirty="0"/>
              <a:t> layer outputs probability distribution.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C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057"/>
                </a:solidFill>
                <a:latin typeface="Arial"/>
              </a:defRPr>
            </a:pPr>
            <a:r>
              <a:t>Training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Optimization Settings</a:t>
            </a:r>
            <a:endParaRPr lang="en-US" dirty="0"/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Optimizer: Adam (Adaptive Moment Estimation).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Schedule: Learning rate decay applied every 25 epochs.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Duration: 75 Epochs.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Batch Size: 16.</a:t>
            </a:r>
            <a:endParaRPr dirty="0"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Performance Monitoring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Primary Metric: F-Score (chosen to handle class imbalance).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Hardware: GPU acceleration enabled for computational efficiency.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C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057"/>
                </a:solidFill>
                <a:latin typeface="Arial"/>
              </a:defRPr>
            </a:pPr>
            <a:r>
              <a:t>Training Convergence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3323B5-E069-5D16-B32B-BFED2C797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51" y="1467440"/>
            <a:ext cx="4281468" cy="37024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C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400" i="1"/>
            </a:pPr>
            <a:r>
              <a:t>Observation: Loss stabilizes below 0.2 while accuracy converges above 95%.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C7BF91-D8ED-E536-F2CC-5037F72B4F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" r="-230" b="-266"/>
          <a:stretch>
            <a:fillRect/>
          </a:stretch>
        </p:blipFill>
        <p:spPr>
          <a:xfrm>
            <a:off x="4401726" y="1466095"/>
            <a:ext cx="4281266" cy="3700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057"/>
                </a:solidFill>
                <a:latin typeface="Arial"/>
              </a:defRPr>
            </a:pPr>
            <a:r>
              <a:t>Quantitative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C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 anchor="ctr"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93.75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Walking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94.74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0.82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Lying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100.00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057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 anchor="ctr">
                    <a:solidFill>
                      <a:srgbClr val="C2A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057"/>
                          </a:solidFill>
                        </a:defRPr>
                      </a:pPr>
                      <a:r>
                        <a:t>96.74</a:t>
                      </a:r>
                    </a:p>
                  </a:txBody>
                  <a:tcPr anchor="ctr">
                    <a:solidFill>
                      <a:srgbClr val="C2A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057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 anchor="ctr">
                    <a:solidFill>
                      <a:srgbClr val="C2A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057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 anchor="ctr">
                    <a:solidFill>
                      <a:srgbClr val="C2A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057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 anchor="ctr">
                    <a:solidFill>
                      <a:srgbClr val="C2A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057"/>
                </a:solidFill>
                <a:latin typeface="Arial"/>
              </a:defRPr>
            </a:pPr>
            <a:r>
              <a:t>Error Analysis (Confusion Matrix)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C06F2D1-F556-88E4-8265-F7DC9147A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9912" y="1181315"/>
            <a:ext cx="4803716" cy="4028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C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/>
            </a:pPr>
            <a:r>
              <a:t>Key Insights:</a:t>
            </a:r>
          </a:p>
          <a:p>
            <a:pPr>
              <a:defRPr sz="1600"/>
            </a:pPr>
            <a:r>
              <a:t>• High Distinction: 'Lying' and 'Sitting' are classified with near perfection.</a:t>
            </a:r>
          </a:p>
          <a:p>
            <a:pPr>
              <a:defRPr sz="1600"/>
            </a:pPr>
            <a:r>
              <a:t>• Minor Confusion: Some overlap exists between 'Standing' and 'Walking' due to signal similarity.</a:t>
            </a:r>
          </a:p>
          <a:p>
            <a:pPr>
              <a:defRPr sz="1600"/>
            </a:pPr>
            <a:r>
              <a:t>• Overall: The model demonstrates robust generalization across activity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057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Conclusion</a:t>
            </a:r>
            <a:endParaRPr lang="en-US" dirty="0"/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Successfully implemented a scalable 1D CNN for IMU-based activity recognition.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Achieved an average accuracy of 96.74%, validating the chosen architecture.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Preprocessing pipeline (Z-score, Windowing) effectively handled sensor variability.</a:t>
            </a:r>
            <a:endParaRPr dirty="0">
              <a:ea typeface="Calibri"/>
              <a:cs typeface="Calibri"/>
            </a:endParaRPr>
          </a:p>
          <a:p>
            <a:pPr>
              <a:spcBef>
                <a:spcPts val="1200"/>
              </a:spcBef>
              <a:defRPr sz="2000" b="1">
                <a:solidFill>
                  <a:srgbClr val="3C3C3C"/>
                </a:solidFill>
                <a:latin typeface="Calibri"/>
              </a:defRPr>
            </a:pPr>
            <a:r>
              <a:rPr dirty="0"/>
              <a:t>Future Work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Integration into real-time applications via MATLAB </a:t>
            </a:r>
            <a:r>
              <a:rPr dirty="0" err="1"/>
              <a:t>imuSensor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Testing on diverse body types to improve generalization.</a:t>
            </a:r>
            <a:endParaRPr dirty="0">
              <a:ea typeface="Calibri"/>
              <a:cs typeface="Calibri"/>
            </a:endParaRPr>
          </a:p>
          <a:p>
            <a:pPr lvl="1">
              <a:spcBef>
                <a:spcPts val="600"/>
              </a:spcBef>
              <a:defRPr sz="1800" b="0">
                <a:solidFill>
                  <a:srgbClr val="3C3C3C"/>
                </a:solidFill>
                <a:latin typeface="Calibri"/>
              </a:defRPr>
            </a:pPr>
            <a:r>
              <a:rPr dirty="0"/>
              <a:t>Expansion to gesture-controlled hardware interfaces.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C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519</Words>
  <Application>Microsoft Office PowerPoint</Application>
  <PresentationFormat>On-screen Show (4:3)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Introduction &amp; Objectives</vt:lpstr>
      <vt:lpstr>Data Acquisition &amp; Pipeline</vt:lpstr>
      <vt:lpstr>Deep Learning Solution Strategy</vt:lpstr>
      <vt:lpstr>Training Configuration</vt:lpstr>
      <vt:lpstr>Training Convergence</vt:lpstr>
      <vt:lpstr>Quantitative Results</vt:lpstr>
      <vt:lpstr>Error Analysis (Confusion Matrix)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Muhammed Kılıçaslan</cp:lastModifiedBy>
  <cp:revision>30</cp:revision>
  <dcterms:created xsi:type="dcterms:W3CDTF">2013-01-27T09:14:16Z</dcterms:created>
  <dcterms:modified xsi:type="dcterms:W3CDTF">2026-01-06T16:31:32Z</dcterms:modified>
  <cp:category/>
</cp:coreProperties>
</file>